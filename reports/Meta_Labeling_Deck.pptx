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B2A4A"/>
                </a:solidFill>
              </a:defRPr>
            </a:pPr>
            <a:r>
              <a:t>Multi-Asset Meta-Labeling Research Pipeline</a:t>
            </a:r>
          </a:p>
          <a:p>
            <a:pPr>
              <a:defRPr sz="2000">
                <a:solidFill>
                  <a:srgbClr val="555B66"/>
                </a:solidFill>
              </a:defRPr>
            </a:pPr>
            <a:r>
              <a:t>A weekly, seven-sleeve allocation framework  ·  Research &amp; educational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Objective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Allocate weekly across a diversified seven-sleeve global asset universe.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Separate the two decisions a single model usually blurs: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M1 — direction: which assets to favour (high recall, simple)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M2 — conviction: is the view likely to pay, and how much to size (precision)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This is the meta-labeling design from systematic-PM literature (Lopez de Prado).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Organizing principle: STATIC factors live in M1, DYNAMIC factors live in M2.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Two simpler problems beat one hard one — M1 proposes, M2 filters and sizes.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M1 — static, linear directional model (momentum + trend only).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M2 — dynamic, regime-aware meta-label (logistic regression).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sees momentum, trend, macro, volatility separately + regime features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can weight factors differently across regimes (factor-timing)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Portfolio — benchmark-relative active weights (benchmark ± bounded tilt).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volatility targeting, position caps, two-layer cost model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Discipline: no look-ahead, 4-week macro lag, 4-week train/test embargo.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M1 stays simple on purpose; all dynamic/regime intelligence is isolated in M2.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M1 — Static Directional Model (worked 3-asset example)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8354"/>
                <a:gridCol w="1528354"/>
                <a:gridCol w="1528354"/>
                <a:gridCol w="1528354"/>
                <a:gridCol w="1528354"/>
                <a:gridCol w="1528354"/>
                <a:gridCol w="1528356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12w mom (z)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trend (z)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Tilt vs bench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+1.08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+0.99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+1.03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3 (best)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+10%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43.3%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+0.02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33.3%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7-10Y Treasury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1 (worst)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23.3%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337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6FB2"/>
                </a:solidFill>
              </a:defRPr>
            </a:pPr>
            <a:r>
              <a:t>What it means: Score each factor -&gt; z-score across assets -&gt; rank -&gt; tilt around the 1/7 benchmark. An underweight is an implicit short, so no outright shorting is needed.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M2 — Dynamic Meta-Label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Target: did M1's benchmark-relative bet pay over the next 4 weeks?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Model: logistic regression (kept simple by design), refit on a rolling ~12-month window.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Features: momentum, trend, macro, volatility (each separate) + regime (VIX, curve, credit, growth, inflation).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Output: P(success) -&gt; a sizing multiplier on the M1 tilt.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Evaluated with multiple methods, not just accuracy: F1, AUC-ROC, AUC-PR, calibration.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M2 is where 'which factor works in which regime' is meant to be learned.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Universe &amp;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Sleeve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Series used (free)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History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U.S.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S&amp;P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^GSPC (index)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2000+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Dev. Intl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MSCI EAFE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EFA (ETF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2001+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EM Equity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MSCI 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EEM (ETF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2003+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U.S. Treasury 7-10Y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S&amp;P UST 7-10Y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IEF (ETF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2002+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High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ICE BofA US 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HYG (ETF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2007+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Gold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GC=F (futures)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2000+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U.S. REITs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Nasdaq US REIT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FRED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2011+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80060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6FB2"/>
                </a:solidFill>
              </a:defRPr>
            </a:pPr>
            <a:r>
              <a:t>What it means: Free true-index history is short (HY index only 2023, MSCI EAFE/EM only 2012), so we use the longest free series per sleeve; true long-history index needs Bloomberg.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Results — Strategy (full sample 2000-2026; out-of-sample from 2021)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Sharpe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Max DD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Sharpe (OOS)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Info Ratio (OOS)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Equal-Weight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Moderate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Institutional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-0.64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M1-only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0.65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+0.18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M1 + 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-0.00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40690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6FB2"/>
                </a:solidFill>
              </a:defRPr>
            </a:pPr>
            <a:r>
              <a:t>What it means: M1 edges all baselines on risk-adjusted return and cuts drawdown the most (-22% vs -30%). Adding M2 makes every metric slightly worse.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Results — Walk-Forward (Sharpe by window)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Window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Equal-Weight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M1-only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M1 + M2</a:t>
                      </a:r>
                    </a:p>
                  </a:txBody>
                  <a:tcPr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2014-2016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2016-2018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0.49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2018-2020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0B2A4A"/>
                          </a:solidFill>
                        </a:defRPr>
                      </a:pPr>
                      <a:r>
                        <a:t>0.15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2021-now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0.81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F6FB2"/>
                          </a:solidFill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37033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i="1">
                <a:solidFill>
                  <a:srgbClr val="1F6FB2"/>
                </a:solidFill>
              </a:defRPr>
            </a:pPr>
            <a:r>
              <a:t>What it means: M1's edge over equal-weight is concentrated in the 2021+ window, not uniform. Full-sample numbers flatter M1 than the regime-by-regime view does.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Key Finding — M2 Does Not Add Value Yet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M2's probabilities carry no information — realized success is flat across every predicted bucket: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predicted 0.14 -&gt; realized 0.44   |   predicted 0.82 -&gt; realized 0.43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AUC-ROC = 0.50 (full) / 0.46 (out-of-sample) — i.e. random, slightly worse OOS.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M2 underperforms M1-only in every walk-forward window.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Held under both proxy and real macro data -&gt; this is robust, not a tuning artifact.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Honest result: the meta-label as specified (per-asset, 4-week, benchmark-relative) extracts no conditional signal.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Attribution — Factors &amp; Costs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M1 decomposed into its two sub-signals (full-sample Sharpe):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momentum 0.61  ·  trend 0.65  ·  combined technical 0.65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Interaction is positive (+0.015) — momentum and trend reinforce, not redundant.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Cost layers (annualized return): gross 6.48% -&gt; net of expense 6.39% -&gt; net of all 6.19%.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transaction cost (~29 bps) is a larger drag than the expense ratio (~9 bps)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The directional value is real and complementary; costs are modest and dominated by turnover.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Research-grade data (free index/ETF-proxy series); a true long-history index study needs Bloomberg.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Historical simulation only — no capacity, market impact, borrow, or live execution.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M1's edge is regime-concentrated (recent), not uniform across history.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M2 is not yet usable; its prediction target needs to be reformulated.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Some diagnostics are full-sample; production needs broader walk-forward / purged CV.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Solid on each step; we report what works and what does not, without overselling.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B2A4A"/>
                </a:solidFill>
              </a:defRPr>
            </a:pPr>
            <a:r>
              <a:t>Questions 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M2 reformulation — which direction do you prefer?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a regime gate (scale total active risk down in stress regimes), or</a:t>
            </a:r>
          </a:p>
          <a:p>
            <a:pPr lvl="1">
              <a:spcAft>
                <a:spcPts val="700"/>
              </a:spcAft>
              <a:defRPr sz="1700">
                <a:solidFill>
                  <a:srgbClr val="555B66"/>
                </a:solidFill>
              </a:defRPr>
            </a:pPr>
            <a:r>
              <a:t>– a factor-timer (momentum vs trend by regime), or a different target/horizon?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Is the 4-week, benchmark-relative success label the right thing to predict?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M1's edge is recent-regime concentrated — acceptable, or do we need cross-regime robustness?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Data: prioritize Bloomberg true-index history (pre-2012)? Which sleeves matter most?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Universe: stay at 7, or add IG credit + broad commodity (9)?</a:t>
            </a:r>
          </a:p>
          <a:p>
            <a:pPr>
              <a:spcAft>
                <a:spcPts val="700"/>
              </a:spcAft>
              <a:defRPr sz="2000">
                <a:solidFill>
                  <a:srgbClr val="0B2A4A"/>
                </a:solidFill>
              </a:defRPr>
            </a:pPr>
            <a:r>
              <a:t>• Benchmark / tracking-error budget for the information-ratio framing?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978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1">
                <a:solidFill>
                  <a:srgbClr val="1F6FB2"/>
                </a:solidFill>
              </a:defRPr>
            </a:pPr>
            <a:r>
              <a:t>Takeaway: We are solid on M1 and the framework; M2's design is the open research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